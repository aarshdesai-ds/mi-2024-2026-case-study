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Arial"/>
              </a:rPr>
              <a:t>MI bowling economy by phase and season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Powerplay</c:v>
                </c:pt>
              </c:strCache>
            </c:strRef>
          </c:tx>
          <c:spPr>
            <a:solidFill>
              <a:srgbClr val="6B7280"/>
            </a:solidFill>
            <a:ln w="38100" cap="flat">
              <a:solidFill>
                <a:srgbClr val="6B72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6B7280"/>
              </a:solidFill>
              <a:ln w="9525" cap="flat">
                <a:solidFill>
                  <a:srgbClr val="6B72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9.18</c:v>
                </c:pt>
                <c:pt idx="1">
                  <c:v>9.15</c:v>
                </c:pt>
                <c:pt idx="2">
                  <c:v>10.83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Middle overs</c:v>
                </c:pt>
              </c:strCache>
            </c:strRef>
          </c:tx>
          <c:spPr>
            <a:solidFill>
              <a:srgbClr val="D9A441"/>
            </a:solidFill>
            <a:ln w="38100" cap="flat">
              <a:solidFill>
                <a:srgbClr val="D9A4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9A441"/>
              </a:solidFill>
              <a:ln w="9525" cap="flat">
                <a:solidFill>
                  <a:srgbClr val="D9A4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9.85</c:v>
                </c:pt>
                <c:pt idx="1">
                  <c:v>8.16</c:v>
                </c:pt>
                <c:pt idx="2">
                  <c:v>9.44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Death overs</c:v>
                </c:pt>
              </c:strCache>
            </c:strRef>
          </c:tx>
          <c:spPr>
            <a:solidFill>
              <a:srgbClr val="B23A2E"/>
            </a:solidFill>
            <a:ln w="38100" cap="flat">
              <a:solidFill>
                <a:srgbClr val="B23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B23A2E"/>
              </a:solidFill>
              <a:ln w="9525" cap="flat">
                <a:solidFill>
                  <a:srgbClr val="B23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11.08</c:v>
                </c:pt>
                <c:pt idx="1">
                  <c:v>10.12</c:v>
                </c:pt>
                <c:pt idx="2">
                  <c:v>11.22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Economy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Ashwani Kumar — % of his overs bowled at the death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Death-overs share of workload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7F5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3A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7F5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Arial"/>
              </a:rPr>
              <a:t>MI strike rate by phase and season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Powerplay</c:v>
                </c:pt>
              </c:strCache>
            </c:strRef>
          </c:tx>
          <c:spPr>
            <a:solidFill>
              <a:srgbClr val="6B7280"/>
            </a:solidFill>
            <a:ln w="38100" cap="flat">
              <a:solidFill>
                <a:srgbClr val="6B72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6B7280"/>
              </a:solidFill>
              <a:ln w="9525" cap="flat">
                <a:solidFill>
                  <a:srgbClr val="6B72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143.85</c:v>
                </c:pt>
                <c:pt idx="1">
                  <c:v>155.73</c:v>
                </c:pt>
                <c:pt idx="2">
                  <c:v>148.81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Middle overs</c:v>
                </c:pt>
              </c:strCache>
            </c:strRef>
          </c:tx>
          <c:spPr>
            <a:solidFill>
              <a:srgbClr val="D9A441"/>
            </a:solidFill>
            <a:ln w="38100" cap="flat">
              <a:solidFill>
                <a:srgbClr val="D9A4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9A441"/>
              </a:solidFill>
              <a:ln w="9525" cap="flat">
                <a:solidFill>
                  <a:srgbClr val="D9A4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145.24</c:v>
                </c:pt>
                <c:pt idx="1">
                  <c:v>142.3</c:v>
                </c:pt>
                <c:pt idx="2">
                  <c:v>149.45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Death overs</c:v>
                </c:pt>
              </c:strCache>
            </c:strRef>
          </c:tx>
          <c:spPr>
            <a:solidFill>
              <a:srgbClr val="B23A2E"/>
            </a:solidFill>
            <a:ln w="38100" cap="flat">
              <a:solidFill>
                <a:srgbClr val="B23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B23A2E"/>
              </a:solidFill>
              <a:ln w="9525" cap="flat">
                <a:solidFill>
                  <a:srgbClr val="B23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173.12</c:v>
                </c:pt>
                <c:pt idx="1">
                  <c:v>179.33</c:v>
                </c:pt>
                <c:pt idx="2">
                  <c:v>165.14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Strike Rate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Arial"/>
              </a:rPr>
              <a:t>Rising every season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Tilak Varma — death-overs SR</c:v>
                </c:pt>
              </c:strCache>
            </c:strRef>
          </c:tx>
          <c:spPr>
            <a:solidFill>
              <a:srgbClr val="0A2A5E"/>
            </a:solidFill>
            <a:ln w="50800" cap="flat">
              <a:solidFill>
                <a:srgbClr val="0A2A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2A5E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A2A5E"/>
              </a:solidFill>
              <a:ln w="9525" cap="flat">
                <a:solidFill>
                  <a:srgbClr val="0A2A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173.81</c:v>
                </c:pt>
                <c:pt idx="1">
                  <c:v>187.76</c:v>
                </c:pt>
                <c:pt idx="2">
                  <c:v>256.67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A2A5E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A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MUMBAI INDIANS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2026: A Data-Driven Root Cause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analysis of 219 matches of ball-by-ball data, across bowling, batting, and role management — plus formal statistical testing of the sharpest findings.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supporter's analysis. Not affiliated with Mumbai Indians or the BCCI.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straight decline — a recovery, then a relapse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7F5F0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828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4th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Playoffs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0" y="160020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7F5F0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828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2402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10th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57600" y="3337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place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160020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7F5F0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1828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2402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4th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92240" y="3337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Qualifier 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26880" y="160020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7F5F0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26880" y="1828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26880" y="22402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9th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326880" y="3337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eliminated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made the playoffs only twice in four seasons. 2025 wasn't a fluke recovery that failed to continue — the data shows exactly which phases, and which roles, snapped back in 2026.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checked, not just believed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051A3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60120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analyzed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33832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Ball-by-ball data, 2024–2026 seasons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85032" y="16916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051A3F"/>
          </a:solidFill>
          <a:ln/>
        </p:spPr>
      </p:sp>
      <p:sp>
        <p:nvSpPr>
          <p:cNvPr id="8" name="Text 6"/>
          <p:cNvSpPr/>
          <p:nvPr/>
        </p:nvSpPr>
        <p:spPr>
          <a:xfrm>
            <a:off x="3685032" y="1874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822192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phases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22192" y="33832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Powerplay, middle overs, death overs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47104" y="16916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051A3F"/>
          </a:solidFill>
          <a:ln/>
        </p:spPr>
      </p:sp>
      <p:sp>
        <p:nvSpPr>
          <p:cNvPr id="12" name="Text 10"/>
          <p:cNvSpPr/>
          <p:nvPr/>
        </p:nvSpPr>
        <p:spPr>
          <a:xfrm>
            <a:off x="6547104" y="1874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684264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formally tested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84264" y="33832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descriptive stats — real significance testing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09176" y="16916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051A3F"/>
          </a:solidFill>
          <a:ln/>
        </p:spPr>
      </p:sp>
      <p:sp>
        <p:nvSpPr>
          <p:cNvPr id="16" name="Text 14"/>
          <p:cNvSpPr/>
          <p:nvPr/>
        </p:nvSpPr>
        <p:spPr>
          <a:xfrm>
            <a:off x="9409176" y="1874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546336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at p &lt; 0.05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546336" y="33832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Bumrah's decline; Ashwani Kumar's role cut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7091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in this deck traces back to a specific, re-runnable calculation. Where a pattern looked strong but didn't survive formal testing, that's shown too — see slide 11.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Bowling: 2025 was MI's best season in every phase. 2026 fell back below 2024.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7315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229600" y="1371600"/>
            <a:ext cx="3291840" cy="4846320"/>
          </a:xfrm>
          <a:prstGeom prst="roundRect">
            <a:avLst>
              <a:gd name="adj" fmla="val 2222"/>
            </a:avLst>
          </a:prstGeom>
          <a:solidFill>
            <a:srgbClr val="F7F5F0"/>
          </a:solidFill>
          <a:ln/>
        </p:spPr>
      </p:sp>
      <p:sp>
        <p:nvSpPr>
          <p:cNvPr id="5" name="Text 2"/>
          <p:cNvSpPr/>
          <p:nvPr/>
        </p:nvSpPr>
        <p:spPr>
          <a:xfrm>
            <a:off x="8503920" y="1600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Death-overs penetration collapsed too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50392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Balls per wicket at the death: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0392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11.0 → 8.7 → 14.6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503920" y="31089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2026's death bowling wasn't just leakier — it was taking wickets at roughly half the 2025 rate.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 didn't have a fourth seamer in 2026 — all-rounders covered the gap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7F5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Chahar + Ghazanfar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0A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9.89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across 27 powerplay overs — MI's genuine new-ball options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46304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051A3F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Hardik + Thakur + Jacks + Santner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2860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13.79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6309360" y="3520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across 19 overs — four all-rounders pressed into new-ball duty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126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 run a ball more expensive, from over a third of MI's non-Bumrah/Boult powerplay overs.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statistically confirmed finding, not a coincidence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949440" y="1371600"/>
            <a:ext cx="4572000" cy="4206240"/>
          </a:xfrm>
          <a:prstGeom prst="roundRect">
            <a:avLst>
              <a:gd name="adj" fmla="val 1739"/>
            </a:avLst>
          </a:prstGeom>
          <a:solidFill>
            <a:srgbClr val="051A3F"/>
          </a:solidFill>
          <a:ln/>
        </p:spPr>
      </p:sp>
      <p:sp>
        <p:nvSpPr>
          <p:cNvPr id="5" name="Text 2"/>
          <p:cNvSpPr/>
          <p:nvPr/>
        </p:nvSpPr>
        <p:spPr>
          <a:xfrm>
            <a:off x="7223760" y="16916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0.0008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7223760" y="27432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Fisher's exact test, on real counts (39 of 123 death balls in 2025 vs. 6 of 60 in 2026)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223760" y="35661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injury. He remained effective wherever he did bowl (4 wickets in 8 middle overs in 2026). This is the strongest individual bowling finding in the entire analysis.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Batting shows the same shape — a 2025 peak, a 2026 fall below 2024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108813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Powerplay: 143.85 → 155.73 → 148.81      Middle overs: 145.24 → 142.30 → 149.45      Death overs: 173.12 → 179.33 → 165.14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Tilak Varma's finisher trajectory — and independent proof it works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6309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223760" y="1371600"/>
            <a:ext cx="4297680" cy="4206240"/>
          </a:xfrm>
          <a:prstGeom prst="roundRect">
            <a:avLst>
              <a:gd name="adj" fmla="val 1739"/>
            </a:avLst>
          </a:prstGeom>
          <a:solidFill>
            <a:srgbClr val="F7F5F0"/>
          </a:solidFill>
          <a:ln/>
        </p:spPr>
      </p:sp>
      <p:sp>
        <p:nvSpPr>
          <p:cNvPr id="5" name="Text 2"/>
          <p:cNvSpPr/>
          <p:nvPr/>
        </p:nvSpPr>
        <p:spPr>
          <a:xfrm>
            <a:off x="7498080" y="1645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at the 2026 T20 World Cup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98080" y="22860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Struggled at No. 3 through the group stage (107 runs, avg 21.40). Moved to a finisher's role — produced a match-defining 44* off 16 vs. Zimbabwe. India won the tournament.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498080" y="42976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done the same role for the last four years in IPL for Mumbai Indians.”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roles the data already argues for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7F5F0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RICKELTON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146.77 → 214.10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Middle-overs strike rate, 2025 to 2026 — a 45-point gap over the next-best MI batter that season.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MI's own operating model already treats him as first-choice — de Kock is officially the injury-triggered backup, confirmed directly by MI's own coaching staff.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7F5F0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JACKS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1488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148.10 SR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583680" y="32004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best powerplay strike rate, on his largest single-season sample — ahead of his own middle-overs number the same year.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45720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concedes a genuine 9.03 economy vs. left-handers across two seasons — a real bowling weapon with zero downside to MI's attack.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not a talent shortfall.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 failure to let proven roles stick.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862072"/>
            <a:ext cx="256032" cy="25603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272491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Ashwani Kumar — cut from the death overs despite proven effectiveness (statistically confirmed)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639312"/>
            <a:ext cx="256032" cy="25603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350215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Naman Dhir — a productive 2025 death-overs role reassigned in 2026 without a performance reason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416552"/>
            <a:ext cx="256032" cy="25603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427939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Tilak Varma — three seasons of rising evidence for a finisher's role, only recently acted 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5193792"/>
            <a:ext cx="256032" cy="25603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505663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Jacks — moved down from the exact position his own record supports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pattern held up — and that's shown here too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685800"/>
          </a:xfrm>
          <a:prstGeom prst="rect">
            <a:avLst/>
          </a:prstGeom>
          <a:solidFill>
            <a:srgbClr val="F7F5F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51790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Bumrah's economy trended worse over 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06640" y="15179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84080" y="15179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0.047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10881360" cy="685800"/>
          </a:xfrm>
          <a:prstGeom prst="rect">
            <a:avLst/>
          </a:prstGeom>
          <a:solidFill>
            <a:srgbClr val="F7F5F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4086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Ashwani Kumar's death-overs role was cut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06640" y="23408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0" y="23408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0.0008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10881360" cy="685800"/>
          </a:xfrm>
          <a:prstGeom prst="rect">
            <a:avLst/>
          </a:prstGeom>
          <a:solidFill>
            <a:srgbClr val="F7F5F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6382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Tilak's 2026 death SR &gt; Hardik's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06640" y="31638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784080" y="31638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0.055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10881360" cy="685800"/>
          </a:xfrm>
          <a:prstGeom prst="rect">
            <a:avLst/>
          </a:prstGeom>
          <a:solidFill>
            <a:srgbClr val="F7F5F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98678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 concedes less per ball vs. left-handers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06640" y="39867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Suggestive, unconfirmed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84080" y="39867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0.170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10881360" cy="685800"/>
          </a:xfrm>
          <a:prstGeom prst="rect">
            <a:avLst/>
          </a:prstGeom>
          <a:solidFill>
            <a:srgbClr val="F7F5F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0974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Rickelton's middle-overs jump is real, per-innings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06640" y="48097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Suggestive, unconfirmed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84080" y="48097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0.368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testing changes how confidently a claim should be stated — not whether it's worth raising. Every number above traces to a re-runnable calculation.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independent, ball-by-ball analysis 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insider knowledge. Just curiosity and pandas.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notebooks, formal statistical tests, and an interactive dashboard are available on request.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name ]  ·  [ email / LinkedIn / GitHub link 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2026-08-19T05:12:23Z</dcterms:created>
  <dcterms:modified xsi:type="dcterms:W3CDTF">2026-08-19T05:12:23Z</dcterms:modified>
</cp:coreProperties>
</file>